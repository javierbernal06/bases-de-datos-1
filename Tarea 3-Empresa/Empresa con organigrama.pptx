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Cooper Hewitt Bold" charset="1" panose="00000000000000000000"/>
      <p:regular r:id="rId16"/>
    </p:embeddedFont>
    <p:embeddedFont>
      <p:font typeface="Cooper Hewitt" charset="1" panose="00000000000000000000"/>
      <p:regular r:id="rId17"/>
    </p:embeddedFont>
    <p:embeddedFont>
      <p:font typeface="DM Sans" charset="1" panose="00000000000000000000"/>
      <p:regular r:id="rId18"/>
    </p:embeddedFont>
    <p:embeddedFont>
      <p:font typeface="DM Sans Bold" charset="1" panose="00000000000000000000"/>
      <p:regular r:id="rId19"/>
    </p:embeddedFont>
    <p:embeddedFont>
      <p:font typeface="Aileron" charset="1" panose="00000500000000000000"/>
      <p:regular r:id="rId20"/>
    </p:embeddedFont>
    <p:embeddedFont>
      <p:font typeface="Open Sans" charset="1" panose="020B060603050402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4.png" Type="http://schemas.openxmlformats.org/officeDocument/2006/relationships/image"/><Relationship Id="rId5" Target="../media/image2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22887" y="-4247682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69" y="0"/>
                </a:lnTo>
                <a:lnTo>
                  <a:pt x="19258069" y="19258069"/>
                </a:lnTo>
                <a:lnTo>
                  <a:pt x="0" y="192580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218332" y="2731879"/>
            <a:ext cx="3701593" cy="4723610"/>
          </a:xfrm>
          <a:custGeom>
            <a:avLst/>
            <a:gdLst/>
            <a:ahLst/>
            <a:cxnLst/>
            <a:rect r="r" b="b" t="t" l="l"/>
            <a:pathLst>
              <a:path h="4723610" w="3701593">
                <a:moveTo>
                  <a:pt x="0" y="0"/>
                </a:moveTo>
                <a:lnTo>
                  <a:pt x="3701593" y="0"/>
                </a:lnTo>
                <a:lnTo>
                  <a:pt x="3701593" y="4723610"/>
                </a:lnTo>
                <a:lnTo>
                  <a:pt x="0" y="47236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456031" y="5686468"/>
            <a:ext cx="3718302" cy="2393234"/>
          </a:xfrm>
          <a:custGeom>
            <a:avLst/>
            <a:gdLst/>
            <a:ahLst/>
            <a:cxnLst/>
            <a:rect r="r" b="b" t="t" l="l"/>
            <a:pathLst>
              <a:path h="2393234" w="3718302">
                <a:moveTo>
                  <a:pt x="0" y="0"/>
                </a:moveTo>
                <a:lnTo>
                  <a:pt x="3718301" y="0"/>
                </a:lnTo>
                <a:lnTo>
                  <a:pt x="3718301" y="2393234"/>
                </a:lnTo>
                <a:lnTo>
                  <a:pt x="0" y="23932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377104" y="3974852"/>
            <a:ext cx="2882196" cy="3943304"/>
          </a:xfrm>
          <a:custGeom>
            <a:avLst/>
            <a:gdLst/>
            <a:ahLst/>
            <a:cxnLst/>
            <a:rect r="r" b="b" t="t" l="l"/>
            <a:pathLst>
              <a:path h="3943304" w="2882196">
                <a:moveTo>
                  <a:pt x="0" y="0"/>
                </a:moveTo>
                <a:lnTo>
                  <a:pt x="2882196" y="0"/>
                </a:lnTo>
                <a:lnTo>
                  <a:pt x="2882196" y="3943304"/>
                </a:lnTo>
                <a:lnTo>
                  <a:pt x="0" y="394330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915539"/>
            <a:ext cx="9904619" cy="2392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18"/>
              </a:lnSpc>
            </a:pPr>
            <a:r>
              <a:rPr lang="en-US" sz="12013" b="true">
                <a:solidFill>
                  <a:srgbClr val="7ED957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SUPER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299903"/>
            <a:ext cx="8626948" cy="2081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49"/>
              </a:lnSpc>
            </a:pPr>
            <a:r>
              <a:rPr lang="en-US" sz="10463">
                <a:solidFill>
                  <a:srgbClr val="0CC0DF"/>
                </a:solidFill>
                <a:latin typeface="Cooper Hewitt"/>
                <a:ea typeface="Cooper Hewitt"/>
                <a:cs typeface="Cooper Hewitt"/>
                <a:sym typeface="Cooper Hewitt"/>
              </a:rPr>
              <a:t>DATA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319860" y="1111629"/>
            <a:ext cx="847412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HOME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424041" y="1111629"/>
            <a:ext cx="847412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SERVICE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528628" y="1111629"/>
            <a:ext cx="1105735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ABOUT US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923945" y="1111629"/>
            <a:ext cx="1335355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CONTACT US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13081" y="6854510"/>
            <a:ext cx="4388831" cy="871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80"/>
              </a:lnSpc>
            </a:pPr>
            <a:r>
              <a:rPr lang="en-US" sz="170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Equipo:Joaquin Davila Arenas,Javier Francisco Bernal Calvo y Victoria Vargas Encinas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253563" y="8991600"/>
            <a:ext cx="100573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Page 01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485535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623534" y="1865419"/>
            <a:ext cx="4132897" cy="6143495"/>
          </a:xfrm>
          <a:custGeom>
            <a:avLst/>
            <a:gdLst/>
            <a:ahLst/>
            <a:cxnLst/>
            <a:rect r="r" b="b" t="t" l="l"/>
            <a:pathLst>
              <a:path h="6143495" w="4132897">
                <a:moveTo>
                  <a:pt x="0" y="0"/>
                </a:moveTo>
                <a:lnTo>
                  <a:pt x="4132897" y="0"/>
                </a:lnTo>
                <a:lnTo>
                  <a:pt x="4132897" y="6143495"/>
                </a:lnTo>
                <a:lnTo>
                  <a:pt x="0" y="61434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640708" y="3004304"/>
            <a:ext cx="3102858" cy="5004610"/>
          </a:xfrm>
          <a:custGeom>
            <a:avLst/>
            <a:gdLst/>
            <a:ahLst/>
            <a:cxnLst/>
            <a:rect r="r" b="b" t="t" l="l"/>
            <a:pathLst>
              <a:path h="5004610" w="3102858">
                <a:moveTo>
                  <a:pt x="0" y="0"/>
                </a:moveTo>
                <a:lnTo>
                  <a:pt x="3102858" y="0"/>
                </a:lnTo>
                <a:lnTo>
                  <a:pt x="3102858" y="5004610"/>
                </a:lnTo>
                <a:lnTo>
                  <a:pt x="0" y="50046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94516" y="1026076"/>
            <a:ext cx="7072639" cy="2276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SOFTWARE SUPERDATA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319860" y="1111629"/>
            <a:ext cx="847412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HOME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424041" y="1111629"/>
            <a:ext cx="847412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SERVICE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528628" y="1111629"/>
            <a:ext cx="1105735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ABOUT US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923945" y="1111629"/>
            <a:ext cx="1335355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CONTACT US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94516" y="4572572"/>
            <a:ext cx="6804271" cy="1461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80"/>
              </a:lnSpc>
            </a:pPr>
            <a:r>
              <a:rPr lang="en-US" sz="170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Aspiramos llegar a la cima del sector retail en el hábito tecnológico, permitiendo a cualquier supermercado optimizar sus operaciones a través de la inteligencia de datos,  lo que resulta en una gestión más eficiente, reducción de desperdicio, así creando una experiencia de compra específica y personalizada para cada cliente.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253563" y="8991600"/>
            <a:ext cx="100573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Page 04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94516" y="7302346"/>
            <a:ext cx="6804271" cy="205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80"/>
              </a:lnSpc>
            </a:pPr>
            <a:r>
              <a:rPr lang="en-US" sz="170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En el competitivo sector de supermercados, el inventario obsoleto y la falta de información sobre clientes generan pérdidas. Ofrecemos una plataforma de bases de datos que organiza y transforma esta información en un archivo, permitiendo optimizar la cadena de suministro, tomar decisiones de inventario precisas y lanzar campañas de marketing personalizadas. Esto ayuda a construir un negocio más inteligente y rentable.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94516" y="3801047"/>
            <a:ext cx="7072639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NUESTRA VISIÓN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94516" y="6529641"/>
            <a:ext cx="7072639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NUESTRA DISCRUSO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485535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319860" y="1111629"/>
            <a:ext cx="847412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HOME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424041" y="1111629"/>
            <a:ext cx="847412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SERVICE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528628" y="1111629"/>
            <a:ext cx="1105735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ABOUT US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923945" y="1111629"/>
            <a:ext cx="1335355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CONTACT US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253563" y="8991600"/>
            <a:ext cx="100573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Page 03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7952472" y="2127002"/>
            <a:ext cx="2896418" cy="1073785"/>
            <a:chOff x="0" y="0"/>
            <a:chExt cx="1174334" cy="43535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74334" cy="435359"/>
            </a:xfrm>
            <a:custGeom>
              <a:avLst/>
              <a:gdLst/>
              <a:ahLst/>
              <a:cxnLst/>
              <a:rect r="r" b="b" t="t" l="l"/>
              <a:pathLst>
                <a:path h="435359" w="1174334">
                  <a:moveTo>
                    <a:pt x="971134" y="0"/>
                  </a:moveTo>
                  <a:cubicBezTo>
                    <a:pt x="1083358" y="0"/>
                    <a:pt x="1174334" y="97458"/>
                    <a:pt x="1174334" y="217679"/>
                  </a:cubicBezTo>
                  <a:cubicBezTo>
                    <a:pt x="1174334" y="337900"/>
                    <a:pt x="1083358" y="435359"/>
                    <a:pt x="971134" y="435359"/>
                  </a:cubicBezTo>
                  <a:lnTo>
                    <a:pt x="203200" y="435359"/>
                  </a:lnTo>
                  <a:cubicBezTo>
                    <a:pt x="90976" y="435359"/>
                    <a:pt x="0" y="337900"/>
                    <a:pt x="0" y="217679"/>
                  </a:cubicBezTo>
                  <a:cubicBezTo>
                    <a:pt x="0" y="9745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4FCDCC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1174334" cy="435359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3599"/>
                </a:lnSpc>
              </a:pPr>
              <a:r>
                <a:rPr lang="en-US" sz="2999" spc="89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CEO</a:t>
              </a:r>
            </a:p>
            <a:p>
              <a:pPr algn="r">
                <a:lnSpc>
                  <a:spcPts val="15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345124" y="7316077"/>
            <a:ext cx="2796885" cy="897890"/>
            <a:chOff x="0" y="0"/>
            <a:chExt cx="1273967" cy="40898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73967" cy="408984"/>
            </a:xfrm>
            <a:custGeom>
              <a:avLst/>
              <a:gdLst/>
              <a:ahLst/>
              <a:cxnLst/>
              <a:rect r="r" b="b" t="t" l="l"/>
              <a:pathLst>
                <a:path h="408984" w="1273967">
                  <a:moveTo>
                    <a:pt x="1070767" y="0"/>
                  </a:moveTo>
                  <a:cubicBezTo>
                    <a:pt x="1182992" y="0"/>
                    <a:pt x="1273967" y="91554"/>
                    <a:pt x="1273967" y="204492"/>
                  </a:cubicBezTo>
                  <a:cubicBezTo>
                    <a:pt x="1273967" y="317430"/>
                    <a:pt x="1182992" y="408984"/>
                    <a:pt x="1070767" y="408984"/>
                  </a:cubicBezTo>
                  <a:lnTo>
                    <a:pt x="203200" y="408984"/>
                  </a:lnTo>
                  <a:cubicBezTo>
                    <a:pt x="90976" y="408984"/>
                    <a:pt x="0" y="317430"/>
                    <a:pt x="0" y="204492"/>
                  </a:cubicBezTo>
                  <a:cubicBezTo>
                    <a:pt x="0" y="91554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2C92D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1273967" cy="418509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1919"/>
                </a:lnSpc>
              </a:pPr>
              <a:r>
                <a:rPr lang="en-US" sz="1599" spc="47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Equipo de soporte tecnologico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585788" y="5430785"/>
            <a:ext cx="2796885" cy="1104900"/>
            <a:chOff x="0" y="0"/>
            <a:chExt cx="1273967" cy="50327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73967" cy="503277"/>
            </a:xfrm>
            <a:custGeom>
              <a:avLst/>
              <a:gdLst/>
              <a:ahLst/>
              <a:cxnLst/>
              <a:rect r="r" b="b" t="t" l="l"/>
              <a:pathLst>
                <a:path h="503277" w="1273967">
                  <a:moveTo>
                    <a:pt x="1070767" y="0"/>
                  </a:moveTo>
                  <a:cubicBezTo>
                    <a:pt x="1182992" y="0"/>
                    <a:pt x="1273967" y="112662"/>
                    <a:pt x="1273967" y="251638"/>
                  </a:cubicBezTo>
                  <a:cubicBezTo>
                    <a:pt x="1273967" y="390614"/>
                    <a:pt x="1182992" y="503277"/>
                    <a:pt x="1070767" y="503277"/>
                  </a:cubicBezTo>
                  <a:lnTo>
                    <a:pt x="203200" y="503277"/>
                  </a:lnTo>
                  <a:cubicBezTo>
                    <a:pt x="90976" y="503277"/>
                    <a:pt x="0" y="390614"/>
                    <a:pt x="0" y="251638"/>
                  </a:cubicBezTo>
                  <a:cubicBezTo>
                    <a:pt x="0" y="112662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7C9E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1273967" cy="512802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1800"/>
                </a:lnSpc>
              </a:pPr>
              <a:r>
                <a:rPr lang="en-US" sz="1500" spc="44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Departamento de operacioones y soporte a cliente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904596" y="3909188"/>
            <a:ext cx="3430159" cy="895350"/>
            <a:chOff x="0" y="0"/>
            <a:chExt cx="1562421" cy="40782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62421" cy="407828"/>
            </a:xfrm>
            <a:custGeom>
              <a:avLst/>
              <a:gdLst/>
              <a:ahLst/>
              <a:cxnLst/>
              <a:rect r="r" b="b" t="t" l="l"/>
              <a:pathLst>
                <a:path h="407828" w="1562421">
                  <a:moveTo>
                    <a:pt x="1359221" y="0"/>
                  </a:moveTo>
                  <a:cubicBezTo>
                    <a:pt x="1471445" y="0"/>
                    <a:pt x="1562421" y="91295"/>
                    <a:pt x="1562421" y="203914"/>
                  </a:cubicBezTo>
                  <a:cubicBezTo>
                    <a:pt x="1562421" y="316532"/>
                    <a:pt x="1471445" y="407828"/>
                    <a:pt x="1359221" y="407828"/>
                  </a:cubicBezTo>
                  <a:lnTo>
                    <a:pt x="203200" y="407828"/>
                  </a:lnTo>
                  <a:cubicBezTo>
                    <a:pt x="90976" y="407828"/>
                    <a:pt x="0" y="316532"/>
                    <a:pt x="0" y="203914"/>
                  </a:cubicBezTo>
                  <a:cubicBezTo>
                    <a:pt x="0" y="9129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18B6B4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1562421" cy="407828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2999"/>
                </a:lnSpc>
              </a:pPr>
              <a:r>
                <a:rPr lang="en-US" sz="2499" spc="74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CFO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586417" y="3856732"/>
            <a:ext cx="3430159" cy="895350"/>
            <a:chOff x="0" y="0"/>
            <a:chExt cx="1562421" cy="40782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562421" cy="407828"/>
            </a:xfrm>
            <a:custGeom>
              <a:avLst/>
              <a:gdLst/>
              <a:ahLst/>
              <a:cxnLst/>
              <a:rect r="r" b="b" t="t" l="l"/>
              <a:pathLst>
                <a:path h="407828" w="1562421">
                  <a:moveTo>
                    <a:pt x="1359221" y="0"/>
                  </a:moveTo>
                  <a:cubicBezTo>
                    <a:pt x="1471445" y="0"/>
                    <a:pt x="1562421" y="91295"/>
                    <a:pt x="1562421" y="203914"/>
                  </a:cubicBezTo>
                  <a:cubicBezTo>
                    <a:pt x="1562421" y="316532"/>
                    <a:pt x="1471445" y="407828"/>
                    <a:pt x="1359221" y="407828"/>
                  </a:cubicBezTo>
                  <a:lnTo>
                    <a:pt x="203200" y="407828"/>
                  </a:lnTo>
                  <a:cubicBezTo>
                    <a:pt x="90976" y="407828"/>
                    <a:pt x="0" y="316532"/>
                    <a:pt x="0" y="203914"/>
                  </a:cubicBezTo>
                  <a:cubicBezTo>
                    <a:pt x="0" y="9129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18B6B4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1562421" cy="407828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2879"/>
                </a:lnSpc>
              </a:pPr>
              <a:r>
                <a:rPr lang="en-US" sz="2399" spc="71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CTO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597787" y="7252226"/>
            <a:ext cx="2703709" cy="892216"/>
            <a:chOff x="0" y="0"/>
            <a:chExt cx="1231526" cy="406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31526" cy="406400"/>
            </a:xfrm>
            <a:custGeom>
              <a:avLst/>
              <a:gdLst/>
              <a:ahLst/>
              <a:cxnLst/>
              <a:rect r="r" b="b" t="t" l="l"/>
              <a:pathLst>
                <a:path h="406400" w="1231526">
                  <a:moveTo>
                    <a:pt x="1028326" y="0"/>
                  </a:moveTo>
                  <a:cubicBezTo>
                    <a:pt x="1140551" y="0"/>
                    <a:pt x="1231526" y="90976"/>
                    <a:pt x="1231526" y="203200"/>
                  </a:cubicBezTo>
                  <a:cubicBezTo>
                    <a:pt x="1231526" y="315424"/>
                    <a:pt x="1140551" y="406400"/>
                    <a:pt x="102832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2C92D5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1231526" cy="415925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1560"/>
                </a:lnSpc>
              </a:pPr>
              <a:r>
                <a:rPr lang="en-US" sz="1300" spc="39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Equipo Comercial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3967057" y="5534290"/>
            <a:ext cx="2703709" cy="897890"/>
            <a:chOff x="0" y="0"/>
            <a:chExt cx="1231526" cy="40898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231526" cy="408984"/>
            </a:xfrm>
            <a:custGeom>
              <a:avLst/>
              <a:gdLst/>
              <a:ahLst/>
              <a:cxnLst/>
              <a:rect r="r" b="b" t="t" l="l"/>
              <a:pathLst>
                <a:path h="408984" w="1231526">
                  <a:moveTo>
                    <a:pt x="1028326" y="0"/>
                  </a:moveTo>
                  <a:cubicBezTo>
                    <a:pt x="1140551" y="0"/>
                    <a:pt x="1231526" y="91554"/>
                    <a:pt x="1231526" y="204492"/>
                  </a:cubicBezTo>
                  <a:cubicBezTo>
                    <a:pt x="1231526" y="317430"/>
                    <a:pt x="1140551" y="408984"/>
                    <a:pt x="1028326" y="408984"/>
                  </a:cubicBezTo>
                  <a:lnTo>
                    <a:pt x="203200" y="408984"/>
                  </a:lnTo>
                  <a:cubicBezTo>
                    <a:pt x="90976" y="408984"/>
                    <a:pt x="0" y="317430"/>
                    <a:pt x="0" y="204492"/>
                  </a:cubicBezTo>
                  <a:cubicBezTo>
                    <a:pt x="0" y="91554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7C9EF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1231526" cy="418509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1919"/>
                </a:lnSpc>
              </a:pPr>
              <a:r>
                <a:rPr lang="en-US" sz="1599" spc="47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Departamento de tecnologia y producto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295173" y="7278938"/>
            <a:ext cx="2800574" cy="892216"/>
            <a:chOff x="0" y="0"/>
            <a:chExt cx="1275648" cy="406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275648" cy="406400"/>
            </a:xfrm>
            <a:custGeom>
              <a:avLst/>
              <a:gdLst/>
              <a:ahLst/>
              <a:cxnLst/>
              <a:rect r="r" b="b" t="t" l="l"/>
              <a:pathLst>
                <a:path h="406400" w="1275648">
                  <a:moveTo>
                    <a:pt x="1072448" y="0"/>
                  </a:moveTo>
                  <a:cubicBezTo>
                    <a:pt x="1184672" y="0"/>
                    <a:pt x="1275648" y="90976"/>
                    <a:pt x="1275648" y="203200"/>
                  </a:cubicBezTo>
                  <a:cubicBezTo>
                    <a:pt x="1275648" y="315424"/>
                    <a:pt x="1184672" y="406400"/>
                    <a:pt x="1072448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2C92D5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1275648" cy="415925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1919"/>
                </a:lnSpc>
              </a:pPr>
              <a:r>
                <a:rPr lang="en-US" sz="1599" spc="47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Equipo administrativo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492543" y="5518738"/>
            <a:ext cx="2800574" cy="892216"/>
            <a:chOff x="0" y="0"/>
            <a:chExt cx="1275648" cy="4064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275648" cy="406400"/>
            </a:xfrm>
            <a:custGeom>
              <a:avLst/>
              <a:gdLst/>
              <a:ahLst/>
              <a:cxnLst/>
              <a:rect r="r" b="b" t="t" l="l"/>
              <a:pathLst>
                <a:path h="406400" w="1275648">
                  <a:moveTo>
                    <a:pt x="1072448" y="0"/>
                  </a:moveTo>
                  <a:cubicBezTo>
                    <a:pt x="1184672" y="0"/>
                    <a:pt x="1275648" y="90976"/>
                    <a:pt x="1275648" y="203200"/>
                  </a:cubicBezTo>
                  <a:cubicBezTo>
                    <a:pt x="1275648" y="315424"/>
                    <a:pt x="1184672" y="406400"/>
                    <a:pt x="1072448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7C9EF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1275648" cy="415925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1800"/>
                </a:lnSpc>
              </a:pPr>
              <a:r>
                <a:rPr lang="en-US" sz="1500" spc="44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Departamento de administracion y finanzas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7582594" y="7278938"/>
            <a:ext cx="2703709" cy="892216"/>
            <a:chOff x="0" y="0"/>
            <a:chExt cx="1231526" cy="4064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231526" cy="406400"/>
            </a:xfrm>
            <a:custGeom>
              <a:avLst/>
              <a:gdLst/>
              <a:ahLst/>
              <a:cxnLst/>
              <a:rect r="r" b="b" t="t" l="l"/>
              <a:pathLst>
                <a:path h="406400" w="1231526">
                  <a:moveTo>
                    <a:pt x="1028326" y="0"/>
                  </a:moveTo>
                  <a:cubicBezTo>
                    <a:pt x="1140551" y="0"/>
                    <a:pt x="1231526" y="90976"/>
                    <a:pt x="1231526" y="203200"/>
                  </a:cubicBezTo>
                  <a:cubicBezTo>
                    <a:pt x="1231526" y="315424"/>
                    <a:pt x="1140551" y="406400"/>
                    <a:pt x="102832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2C92D5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1231526" cy="415925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1800"/>
                </a:lnSpc>
              </a:pPr>
              <a:r>
                <a:rPr lang="en-US" sz="1500" spc="44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Equipo de consultores</a:t>
              </a:r>
            </a:p>
            <a:p>
              <a:pPr algn="ctr">
                <a:lnSpc>
                  <a:spcPts val="1560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772208" y="5518738"/>
            <a:ext cx="2703709" cy="897890"/>
            <a:chOff x="0" y="0"/>
            <a:chExt cx="1231526" cy="40898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231526" cy="408984"/>
            </a:xfrm>
            <a:custGeom>
              <a:avLst/>
              <a:gdLst/>
              <a:ahLst/>
              <a:cxnLst/>
              <a:rect r="r" b="b" t="t" l="l"/>
              <a:pathLst>
                <a:path h="408984" w="1231526">
                  <a:moveTo>
                    <a:pt x="1028326" y="0"/>
                  </a:moveTo>
                  <a:cubicBezTo>
                    <a:pt x="1140551" y="0"/>
                    <a:pt x="1231526" y="91554"/>
                    <a:pt x="1231526" y="204492"/>
                  </a:cubicBezTo>
                  <a:cubicBezTo>
                    <a:pt x="1231526" y="317430"/>
                    <a:pt x="1140551" y="408984"/>
                    <a:pt x="1028326" y="408984"/>
                  </a:cubicBezTo>
                  <a:lnTo>
                    <a:pt x="203200" y="408984"/>
                  </a:lnTo>
                  <a:cubicBezTo>
                    <a:pt x="90976" y="408984"/>
                    <a:pt x="0" y="317430"/>
                    <a:pt x="0" y="204492"/>
                  </a:cubicBezTo>
                  <a:cubicBezTo>
                    <a:pt x="0" y="91554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7C9EF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1231526" cy="418509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1919"/>
                </a:lnSpc>
              </a:pPr>
              <a:r>
                <a:rPr lang="en-US" sz="1599" spc="47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Departamento de ventas y marketing</a:t>
              </a:r>
            </a:p>
          </p:txBody>
        </p:sp>
      </p:grpSp>
      <p:sp>
        <p:nvSpPr>
          <p:cNvPr name="AutoShape 41" id="41"/>
          <p:cNvSpPr/>
          <p:nvPr/>
        </p:nvSpPr>
        <p:spPr>
          <a:xfrm flipV="true">
            <a:off x="9493010" y="3124725"/>
            <a:ext cx="0" cy="393825"/>
          </a:xfrm>
          <a:prstGeom prst="line">
            <a:avLst/>
          </a:prstGeom>
          <a:ln cap="flat" w="9525">
            <a:solidFill>
              <a:srgbClr val="19191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2" id="42"/>
          <p:cNvSpPr/>
          <p:nvPr/>
        </p:nvSpPr>
        <p:spPr>
          <a:xfrm flipV="true">
            <a:off x="7301497" y="3528075"/>
            <a:ext cx="0" cy="328657"/>
          </a:xfrm>
          <a:prstGeom prst="line">
            <a:avLst/>
          </a:prstGeom>
          <a:ln cap="flat" w="9525">
            <a:solidFill>
              <a:srgbClr val="19191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3" id="43"/>
          <p:cNvSpPr/>
          <p:nvPr/>
        </p:nvSpPr>
        <p:spPr>
          <a:xfrm flipV="true">
            <a:off x="5325985" y="5204413"/>
            <a:ext cx="0" cy="329877"/>
          </a:xfrm>
          <a:prstGeom prst="line">
            <a:avLst/>
          </a:prstGeom>
          <a:ln cap="flat" w="9525">
            <a:solidFill>
              <a:srgbClr val="19191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4" id="44"/>
          <p:cNvSpPr/>
          <p:nvPr/>
        </p:nvSpPr>
        <p:spPr>
          <a:xfrm flipV="true">
            <a:off x="2590695" y="6880751"/>
            <a:ext cx="0" cy="371475"/>
          </a:xfrm>
          <a:prstGeom prst="line">
            <a:avLst/>
          </a:prstGeom>
          <a:ln cap="flat" w="9525">
            <a:solidFill>
              <a:srgbClr val="19191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5" id="45"/>
          <p:cNvSpPr/>
          <p:nvPr/>
        </p:nvSpPr>
        <p:spPr>
          <a:xfrm flipV="true">
            <a:off x="7301497" y="4752082"/>
            <a:ext cx="0" cy="452331"/>
          </a:xfrm>
          <a:prstGeom prst="line">
            <a:avLst/>
          </a:prstGeom>
          <a:ln cap="flat" w="9525">
            <a:solidFill>
              <a:srgbClr val="19191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6" id="46"/>
          <p:cNvSpPr/>
          <p:nvPr/>
        </p:nvSpPr>
        <p:spPr>
          <a:xfrm flipV="true">
            <a:off x="5318912" y="6432180"/>
            <a:ext cx="0" cy="500959"/>
          </a:xfrm>
          <a:prstGeom prst="line">
            <a:avLst/>
          </a:prstGeom>
          <a:ln cap="flat" w="9525">
            <a:solidFill>
              <a:srgbClr val="19191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7" id="47"/>
          <p:cNvSpPr/>
          <p:nvPr/>
        </p:nvSpPr>
        <p:spPr>
          <a:xfrm flipV="true">
            <a:off x="11619675" y="4804538"/>
            <a:ext cx="0" cy="387968"/>
          </a:xfrm>
          <a:prstGeom prst="line">
            <a:avLst/>
          </a:prstGeom>
          <a:ln cap="flat" w="9525">
            <a:solidFill>
              <a:srgbClr val="19191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8" id="48"/>
          <p:cNvSpPr/>
          <p:nvPr/>
        </p:nvSpPr>
        <p:spPr>
          <a:xfrm flipV="true">
            <a:off x="13892831" y="6410954"/>
            <a:ext cx="0" cy="522185"/>
          </a:xfrm>
          <a:prstGeom prst="line">
            <a:avLst/>
          </a:prstGeom>
          <a:ln cap="flat" w="9525">
            <a:solidFill>
              <a:srgbClr val="19191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9" id="49"/>
          <p:cNvSpPr/>
          <p:nvPr/>
        </p:nvSpPr>
        <p:spPr>
          <a:xfrm flipV="true">
            <a:off x="11619675" y="3526855"/>
            <a:ext cx="0" cy="382333"/>
          </a:xfrm>
          <a:prstGeom prst="line">
            <a:avLst/>
          </a:prstGeom>
          <a:ln cap="flat" w="9525">
            <a:solidFill>
              <a:srgbClr val="19191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0" id="50"/>
          <p:cNvSpPr/>
          <p:nvPr/>
        </p:nvSpPr>
        <p:spPr>
          <a:xfrm flipV="true">
            <a:off x="16283080" y="6871226"/>
            <a:ext cx="0" cy="404552"/>
          </a:xfrm>
          <a:prstGeom prst="line">
            <a:avLst/>
          </a:prstGeom>
          <a:ln cap="flat" w="9525">
            <a:solidFill>
              <a:srgbClr val="19191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1" id="51"/>
          <p:cNvSpPr/>
          <p:nvPr/>
        </p:nvSpPr>
        <p:spPr>
          <a:xfrm flipH="true">
            <a:off x="7306259" y="3523312"/>
            <a:ext cx="4308654" cy="0"/>
          </a:xfrm>
          <a:prstGeom prst="line">
            <a:avLst/>
          </a:prstGeom>
          <a:ln cap="flat" w="9525">
            <a:solidFill>
              <a:srgbClr val="19191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2" id="52"/>
          <p:cNvSpPr/>
          <p:nvPr/>
        </p:nvSpPr>
        <p:spPr>
          <a:xfrm flipH="true">
            <a:off x="5318912" y="5192506"/>
            <a:ext cx="8569156" cy="4763"/>
          </a:xfrm>
          <a:prstGeom prst="line">
            <a:avLst/>
          </a:prstGeom>
          <a:ln cap="flat" w="9525">
            <a:solidFill>
              <a:srgbClr val="19191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3" id="53"/>
          <p:cNvSpPr/>
          <p:nvPr/>
        </p:nvSpPr>
        <p:spPr>
          <a:xfrm flipH="true">
            <a:off x="2559252" y="6933138"/>
            <a:ext cx="2759660" cy="0"/>
          </a:xfrm>
          <a:prstGeom prst="line">
            <a:avLst/>
          </a:prstGeom>
          <a:ln cap="flat" w="9525">
            <a:solidFill>
              <a:srgbClr val="19191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4" id="54"/>
          <p:cNvSpPr txBox="true"/>
          <p:nvPr/>
        </p:nvSpPr>
        <p:spPr>
          <a:xfrm rot="0">
            <a:off x="509956" y="825879"/>
            <a:ext cx="5730848" cy="1209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ORGANIGRAMA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1398778" y="7278938"/>
            <a:ext cx="2703709" cy="892216"/>
            <a:chOff x="0" y="0"/>
            <a:chExt cx="1231526" cy="4064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231526" cy="406400"/>
            </a:xfrm>
            <a:custGeom>
              <a:avLst/>
              <a:gdLst/>
              <a:ahLst/>
              <a:cxnLst/>
              <a:rect r="r" b="b" t="t" l="l"/>
              <a:pathLst>
                <a:path h="406400" w="1231526">
                  <a:moveTo>
                    <a:pt x="1028326" y="0"/>
                  </a:moveTo>
                  <a:cubicBezTo>
                    <a:pt x="1140551" y="0"/>
                    <a:pt x="1231526" y="90976"/>
                    <a:pt x="1231526" y="203200"/>
                  </a:cubicBezTo>
                  <a:cubicBezTo>
                    <a:pt x="1231526" y="315424"/>
                    <a:pt x="1140551" y="406400"/>
                    <a:pt x="102832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2C92D5"/>
            </a:solid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9525"/>
              <a:ext cx="1231526" cy="415925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1560"/>
                </a:lnSpc>
              </a:pPr>
              <a:r>
                <a:rPr lang="en-US" sz="1300" spc="39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Equipo técnico</a:t>
              </a:r>
            </a:p>
          </p:txBody>
        </p:sp>
      </p:grpSp>
      <p:sp>
        <p:nvSpPr>
          <p:cNvPr name="AutoShape 58" id="58"/>
          <p:cNvSpPr/>
          <p:nvPr/>
        </p:nvSpPr>
        <p:spPr>
          <a:xfrm flipV="true">
            <a:off x="13888068" y="5204413"/>
            <a:ext cx="0" cy="329877"/>
          </a:xfrm>
          <a:prstGeom prst="line">
            <a:avLst/>
          </a:prstGeom>
          <a:ln cap="flat" w="9525">
            <a:solidFill>
              <a:srgbClr val="19191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9" id="59"/>
          <p:cNvSpPr/>
          <p:nvPr/>
        </p:nvSpPr>
        <p:spPr>
          <a:xfrm flipH="true" flipV="true">
            <a:off x="10979468" y="5185538"/>
            <a:ext cx="4762" cy="245247"/>
          </a:xfrm>
          <a:prstGeom prst="line">
            <a:avLst/>
          </a:prstGeom>
          <a:ln cap="flat" w="9525">
            <a:solidFill>
              <a:srgbClr val="19191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0" id="60"/>
          <p:cNvSpPr/>
          <p:nvPr/>
        </p:nvSpPr>
        <p:spPr>
          <a:xfrm flipH="true" flipV="true">
            <a:off x="8121681" y="5204505"/>
            <a:ext cx="2381" cy="314233"/>
          </a:xfrm>
          <a:prstGeom prst="line">
            <a:avLst/>
          </a:prstGeom>
          <a:ln cap="flat" w="9525">
            <a:solidFill>
              <a:srgbClr val="19191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1" id="61"/>
          <p:cNvSpPr/>
          <p:nvPr/>
        </p:nvSpPr>
        <p:spPr>
          <a:xfrm flipV="true">
            <a:off x="5950729" y="6862695"/>
            <a:ext cx="0" cy="371475"/>
          </a:xfrm>
          <a:prstGeom prst="line">
            <a:avLst/>
          </a:prstGeom>
          <a:ln cap="flat" w="9525">
            <a:solidFill>
              <a:srgbClr val="19191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2" id="62"/>
          <p:cNvSpPr/>
          <p:nvPr/>
        </p:nvSpPr>
        <p:spPr>
          <a:xfrm flipV="true">
            <a:off x="8116919" y="6432180"/>
            <a:ext cx="0" cy="500959"/>
          </a:xfrm>
          <a:prstGeom prst="line">
            <a:avLst/>
          </a:prstGeom>
          <a:ln cap="flat" w="9525">
            <a:solidFill>
              <a:srgbClr val="19191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3" id="63"/>
          <p:cNvSpPr/>
          <p:nvPr/>
        </p:nvSpPr>
        <p:spPr>
          <a:xfrm flipH="true">
            <a:off x="5919285" y="6915082"/>
            <a:ext cx="2204777" cy="0"/>
          </a:xfrm>
          <a:prstGeom prst="line">
            <a:avLst/>
          </a:prstGeom>
          <a:ln cap="flat" w="9525">
            <a:solidFill>
              <a:srgbClr val="19191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4" id="64"/>
          <p:cNvSpPr/>
          <p:nvPr/>
        </p:nvSpPr>
        <p:spPr>
          <a:xfrm flipH="true">
            <a:off x="13888068" y="6933138"/>
            <a:ext cx="2395012" cy="4763"/>
          </a:xfrm>
          <a:prstGeom prst="line">
            <a:avLst/>
          </a:prstGeom>
          <a:ln cap="flat" w="9525">
            <a:solidFill>
              <a:srgbClr val="19191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5" id="65"/>
          <p:cNvSpPr/>
          <p:nvPr/>
        </p:nvSpPr>
        <p:spPr>
          <a:xfrm flipV="true">
            <a:off x="8806134" y="6944602"/>
            <a:ext cx="0" cy="371475"/>
          </a:xfrm>
          <a:prstGeom prst="line">
            <a:avLst/>
          </a:prstGeom>
          <a:ln cap="flat" w="9525">
            <a:solidFill>
              <a:srgbClr val="19191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6" id="66"/>
          <p:cNvSpPr/>
          <p:nvPr/>
        </p:nvSpPr>
        <p:spPr>
          <a:xfrm flipH="true" flipV="true">
            <a:off x="10972324" y="6514087"/>
            <a:ext cx="7144" cy="430515"/>
          </a:xfrm>
          <a:prstGeom prst="line">
            <a:avLst/>
          </a:prstGeom>
          <a:ln cap="flat" w="9525">
            <a:solidFill>
              <a:srgbClr val="19191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7" id="67"/>
          <p:cNvSpPr/>
          <p:nvPr/>
        </p:nvSpPr>
        <p:spPr>
          <a:xfrm flipH="true">
            <a:off x="8806134" y="6944602"/>
            <a:ext cx="3937432" cy="0"/>
          </a:xfrm>
          <a:prstGeom prst="line">
            <a:avLst/>
          </a:prstGeom>
          <a:ln cap="flat" w="9525">
            <a:solidFill>
              <a:srgbClr val="19191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8" id="68"/>
          <p:cNvSpPr/>
          <p:nvPr/>
        </p:nvSpPr>
        <p:spPr>
          <a:xfrm flipV="true">
            <a:off x="12743566" y="6944602"/>
            <a:ext cx="0" cy="371475"/>
          </a:xfrm>
          <a:prstGeom prst="line">
            <a:avLst/>
          </a:prstGeom>
          <a:ln cap="flat" w="9525">
            <a:solidFill>
              <a:srgbClr val="191919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7425540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69"/>
                </a:lnTo>
                <a:lnTo>
                  <a:pt x="0" y="192580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625265"/>
            <a:ext cx="7072639" cy="1209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>
                <a:solidFill>
                  <a:srgbClr val="343434"/>
                </a:solidFill>
                <a:latin typeface="Cooper Hewitt"/>
                <a:ea typeface="Cooper Hewitt"/>
                <a:cs typeface="Cooper Hewitt"/>
                <a:sym typeface="Cooper Hewitt"/>
              </a:rPr>
              <a:t>CEO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26307" y="2581893"/>
            <a:ext cx="10843871" cy="6778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2870" indent="-376435" lvl="1">
              <a:lnSpc>
                <a:spcPts val="4881"/>
              </a:lnSpc>
              <a:buFont typeface="Arial"/>
              <a:buChar char="•"/>
            </a:pPr>
            <a:r>
              <a:rPr lang="en-US" sz="3487">
                <a:solidFill>
                  <a:srgbClr val="343434"/>
                </a:solidFill>
                <a:latin typeface="Open Sans"/>
                <a:ea typeface="Open Sans"/>
                <a:cs typeface="Open Sans"/>
                <a:sym typeface="Open Sans"/>
              </a:rPr>
              <a:t>Definir la visión y estrategia</a:t>
            </a:r>
          </a:p>
          <a:p>
            <a:pPr algn="just" marL="752870" indent="-376435" lvl="1">
              <a:lnSpc>
                <a:spcPts val="4881"/>
              </a:lnSpc>
              <a:buFont typeface="Arial"/>
              <a:buChar char="•"/>
            </a:pPr>
            <a:r>
              <a:rPr lang="en-US" sz="3487">
                <a:solidFill>
                  <a:srgbClr val="343434"/>
                </a:solidFill>
                <a:latin typeface="Open Sans"/>
                <a:ea typeface="Open Sans"/>
                <a:cs typeface="Open Sans"/>
                <a:sym typeface="Open Sans"/>
              </a:rPr>
              <a:t>Establece objetivos de crecimiento (usuarios, clientes empresariales, innovación).</a:t>
            </a:r>
          </a:p>
          <a:p>
            <a:pPr algn="just" marL="752870" indent="-376435" lvl="1">
              <a:lnSpc>
                <a:spcPts val="4881"/>
              </a:lnSpc>
              <a:buFont typeface="Arial"/>
              <a:buChar char="•"/>
            </a:pPr>
            <a:r>
              <a:rPr lang="en-US" sz="3487">
                <a:solidFill>
                  <a:srgbClr val="343434"/>
                </a:solidFill>
                <a:latin typeface="Open Sans"/>
                <a:ea typeface="Open Sans"/>
                <a:cs typeface="Open Sans"/>
                <a:sym typeface="Open Sans"/>
              </a:rPr>
              <a:t>Toma de decisiones de alto nivel</a:t>
            </a:r>
          </a:p>
          <a:p>
            <a:pPr algn="just" marL="752870" indent="-376435" lvl="1">
              <a:lnSpc>
                <a:spcPts val="4881"/>
              </a:lnSpc>
              <a:buFont typeface="Arial"/>
              <a:buChar char="•"/>
            </a:pPr>
            <a:r>
              <a:rPr lang="en-US" sz="3487">
                <a:solidFill>
                  <a:srgbClr val="343434"/>
                </a:solidFill>
                <a:latin typeface="Open Sans"/>
                <a:ea typeface="Open Sans"/>
                <a:cs typeface="Open Sans"/>
                <a:sym typeface="Open Sans"/>
              </a:rPr>
              <a:t>Evalúa inversiones en nuevas tecnologías (IA, big data, </a:t>
            </a:r>
          </a:p>
          <a:p>
            <a:pPr algn="just" marL="752870" indent="-376435" lvl="1">
              <a:lnSpc>
                <a:spcPts val="4881"/>
              </a:lnSpc>
              <a:buFont typeface="Arial"/>
              <a:buChar char="•"/>
            </a:pPr>
            <a:r>
              <a:rPr lang="en-US" sz="3487">
                <a:solidFill>
                  <a:srgbClr val="343434"/>
                </a:solidFill>
                <a:latin typeface="Open Sans"/>
                <a:ea typeface="Open Sans"/>
                <a:cs typeface="Open Sans"/>
                <a:sym typeface="Open Sans"/>
              </a:rPr>
              <a:t>Supervisa CTO, CFO y o tros directivos y departamentos.</a:t>
            </a:r>
          </a:p>
          <a:p>
            <a:pPr algn="just" marL="752870" indent="-376435" lvl="1">
              <a:lnSpc>
                <a:spcPts val="4881"/>
              </a:lnSpc>
              <a:buFont typeface="Arial"/>
              <a:buChar char="•"/>
            </a:pPr>
            <a:r>
              <a:rPr lang="en-US" sz="3487">
                <a:solidFill>
                  <a:srgbClr val="343434"/>
                </a:solidFill>
                <a:latin typeface="Open Sans"/>
                <a:ea typeface="Open Sans"/>
                <a:cs typeface="Open Sans"/>
                <a:sym typeface="Open Sans"/>
              </a:rPr>
              <a:t>Motiva y alinea al personal con la misión de la empresa</a:t>
            </a:r>
          </a:p>
          <a:p>
            <a:pPr algn="just">
              <a:lnSpc>
                <a:spcPts val="4881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2080490" y="3623305"/>
            <a:ext cx="5178810" cy="4114800"/>
          </a:xfrm>
          <a:custGeom>
            <a:avLst/>
            <a:gdLst/>
            <a:ahLst/>
            <a:cxnLst/>
            <a:rect r="r" b="b" t="t" l="l"/>
            <a:pathLst>
              <a:path h="4114800" w="5178810">
                <a:moveTo>
                  <a:pt x="0" y="0"/>
                </a:moveTo>
                <a:lnTo>
                  <a:pt x="5178810" y="0"/>
                </a:lnTo>
                <a:lnTo>
                  <a:pt x="51788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961472" y="276225"/>
            <a:ext cx="7072639" cy="1209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FUNCIONES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319860" y="1111629"/>
            <a:ext cx="847412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HOME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424041" y="1111629"/>
            <a:ext cx="847412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SERVICE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528628" y="1111629"/>
            <a:ext cx="1105735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ABOUT US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923945" y="1111629"/>
            <a:ext cx="1335355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CONTACT US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253563" y="8991600"/>
            <a:ext cx="100573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Page 05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7425540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69"/>
                </a:lnTo>
                <a:lnTo>
                  <a:pt x="0" y="192580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858122" y="3086100"/>
            <a:ext cx="5131837" cy="4114800"/>
          </a:xfrm>
          <a:custGeom>
            <a:avLst/>
            <a:gdLst/>
            <a:ahLst/>
            <a:cxnLst/>
            <a:rect r="r" b="b" t="t" l="l"/>
            <a:pathLst>
              <a:path h="4114800" w="5131837">
                <a:moveTo>
                  <a:pt x="0" y="0"/>
                </a:moveTo>
                <a:lnTo>
                  <a:pt x="5131837" y="0"/>
                </a:lnTo>
                <a:lnTo>
                  <a:pt x="513183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749090"/>
            <a:ext cx="7072639" cy="734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80"/>
              </a:lnSpc>
              <a:spcBef>
                <a:spcPct val="0"/>
              </a:spcBef>
            </a:pPr>
            <a:r>
              <a:rPr lang="en-US" b="true" sz="3700" strike="noStrike" u="non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CTO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61535" y="2777789"/>
            <a:ext cx="9212856" cy="8220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59142" indent="-279571" lvl="1">
              <a:lnSpc>
                <a:spcPts val="3625"/>
              </a:lnSpc>
              <a:buFont typeface="Arial"/>
              <a:buChar char="•"/>
            </a:pPr>
            <a:r>
              <a:rPr lang="en-US" sz="2589">
                <a:solidFill>
                  <a:srgbClr val="343434"/>
                </a:solidFill>
                <a:latin typeface="Open Sans"/>
                <a:ea typeface="Open Sans"/>
                <a:cs typeface="Open Sans"/>
                <a:sym typeface="Open Sans"/>
              </a:rPr>
              <a:t>Definir la arquitectura del producto</a:t>
            </a:r>
          </a:p>
          <a:p>
            <a:pPr algn="just">
              <a:lnSpc>
                <a:spcPts val="3625"/>
              </a:lnSpc>
            </a:pPr>
            <a:r>
              <a:rPr lang="en-US" sz="2589">
                <a:solidFill>
                  <a:srgbClr val="343434"/>
                </a:solidFill>
                <a:latin typeface="Open Sans"/>
                <a:ea typeface="Open Sans"/>
                <a:cs typeface="Open Sans"/>
                <a:sym typeface="Open Sans"/>
              </a:rPr>
              <a:t>Decide cómo se construye el software de bases de datos.</a:t>
            </a:r>
          </a:p>
          <a:p>
            <a:pPr algn="just">
              <a:lnSpc>
                <a:spcPts val="3625"/>
              </a:lnSpc>
            </a:pPr>
            <a:r>
              <a:rPr lang="en-US" sz="2589">
                <a:solidFill>
                  <a:srgbClr val="343434"/>
                </a:solidFill>
                <a:latin typeface="Open Sans"/>
                <a:ea typeface="Open Sans"/>
                <a:cs typeface="Open Sans"/>
                <a:sym typeface="Open Sans"/>
              </a:rPr>
              <a:t>Escoge lenguajes de programación, frameworks, y metodologías de desarrollo.</a:t>
            </a:r>
          </a:p>
          <a:p>
            <a:pPr algn="just">
              <a:lnSpc>
                <a:spcPts val="3625"/>
              </a:lnSpc>
            </a:pPr>
          </a:p>
          <a:p>
            <a:pPr algn="just" marL="559142" indent="-279571" lvl="1">
              <a:lnSpc>
                <a:spcPts val="3625"/>
              </a:lnSpc>
              <a:buFont typeface="Arial"/>
              <a:buChar char="•"/>
            </a:pPr>
            <a:r>
              <a:rPr lang="en-US" sz="2589">
                <a:solidFill>
                  <a:srgbClr val="343434"/>
                </a:solidFill>
                <a:latin typeface="Open Sans"/>
                <a:ea typeface="Open Sans"/>
                <a:cs typeface="Open Sans"/>
                <a:sym typeface="Open Sans"/>
              </a:rPr>
              <a:t>Supervisar el equipo de ingeniería</a:t>
            </a:r>
          </a:p>
          <a:p>
            <a:pPr algn="just">
              <a:lnSpc>
                <a:spcPts val="3625"/>
              </a:lnSpc>
            </a:pPr>
            <a:r>
              <a:rPr lang="en-US" sz="2589">
                <a:solidFill>
                  <a:srgbClr val="343434"/>
                </a:solidFill>
                <a:latin typeface="Open Sans"/>
                <a:ea typeface="Open Sans"/>
                <a:cs typeface="Open Sans"/>
                <a:sym typeface="Open Sans"/>
              </a:rPr>
              <a:t>Lidera a los programadores, arquitectos de software, DevOps y expertos en seguridad.</a:t>
            </a:r>
          </a:p>
          <a:p>
            <a:pPr algn="just">
              <a:lnSpc>
                <a:spcPts val="3625"/>
              </a:lnSpc>
            </a:pPr>
            <a:r>
              <a:rPr lang="en-US" sz="2589">
                <a:solidFill>
                  <a:srgbClr val="343434"/>
                </a:solidFill>
                <a:latin typeface="Open Sans"/>
                <a:ea typeface="Open Sans"/>
                <a:cs typeface="Open Sans"/>
                <a:sym typeface="Open Sans"/>
              </a:rPr>
              <a:t>Define procesos de desarrollo ágil (Scrum, Kanban, CI/CD).</a:t>
            </a:r>
          </a:p>
          <a:p>
            <a:pPr algn="just">
              <a:lnSpc>
                <a:spcPts val="3625"/>
              </a:lnSpc>
            </a:pPr>
          </a:p>
          <a:p>
            <a:pPr algn="just" marL="559142" indent="-279571" lvl="1">
              <a:lnSpc>
                <a:spcPts val="3625"/>
              </a:lnSpc>
              <a:buFont typeface="Arial"/>
              <a:buChar char="•"/>
            </a:pPr>
            <a:r>
              <a:rPr lang="en-US" sz="2589">
                <a:solidFill>
                  <a:srgbClr val="343434"/>
                </a:solidFill>
                <a:latin typeface="Open Sans"/>
                <a:ea typeface="Open Sans"/>
                <a:cs typeface="Open Sans"/>
                <a:sym typeface="Open Sans"/>
              </a:rPr>
              <a:t>Innovación y adopción de nuevas tecnologías</a:t>
            </a:r>
          </a:p>
          <a:p>
            <a:pPr algn="just">
              <a:lnSpc>
                <a:spcPts val="3625"/>
              </a:lnSpc>
            </a:pPr>
            <a:r>
              <a:rPr lang="en-US" sz="2589">
                <a:solidFill>
                  <a:srgbClr val="343434"/>
                </a:solidFill>
                <a:latin typeface="Open Sans"/>
                <a:ea typeface="Open Sans"/>
                <a:cs typeface="Open Sans"/>
                <a:sym typeface="Open Sans"/>
              </a:rPr>
              <a:t>Investiga tendencias como: inteligencia artificial aplicada a bases de datos, bases distribuidas, cloud-native, blockchain para seguridad.</a:t>
            </a:r>
          </a:p>
          <a:p>
            <a:pPr algn="just">
              <a:lnSpc>
                <a:spcPts val="3625"/>
              </a:lnSpc>
            </a:pPr>
          </a:p>
          <a:p>
            <a:pPr algn="just">
              <a:lnSpc>
                <a:spcPts val="3625"/>
              </a:lnSpc>
            </a:pPr>
          </a:p>
          <a:p>
            <a:pPr algn="just">
              <a:lnSpc>
                <a:spcPts val="3625"/>
              </a:lnSpc>
            </a:pPr>
          </a:p>
          <a:p>
            <a:pPr algn="just">
              <a:lnSpc>
                <a:spcPts val="3625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4961472" y="276225"/>
            <a:ext cx="7072639" cy="1209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FUNCIONES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319860" y="1111629"/>
            <a:ext cx="847412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HOME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424041" y="1111629"/>
            <a:ext cx="847412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SERVICE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528628" y="1111629"/>
            <a:ext cx="1105735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ABOUT US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923945" y="1111629"/>
            <a:ext cx="1335355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CONTACT US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253563" y="8991600"/>
            <a:ext cx="100573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Page 05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7425540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69"/>
                </a:lnTo>
                <a:lnTo>
                  <a:pt x="0" y="192580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034110" y="3545657"/>
            <a:ext cx="4517246" cy="4114800"/>
          </a:xfrm>
          <a:custGeom>
            <a:avLst/>
            <a:gdLst/>
            <a:ahLst/>
            <a:cxnLst/>
            <a:rect r="r" b="b" t="t" l="l"/>
            <a:pathLst>
              <a:path h="4114800" w="4517246">
                <a:moveTo>
                  <a:pt x="0" y="0"/>
                </a:moveTo>
                <a:lnTo>
                  <a:pt x="4517246" y="0"/>
                </a:lnTo>
                <a:lnTo>
                  <a:pt x="451724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749090"/>
            <a:ext cx="7072639" cy="734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80"/>
              </a:lnSpc>
              <a:spcBef>
                <a:spcPct val="0"/>
              </a:spcBef>
            </a:pPr>
            <a:r>
              <a:rPr lang="en-US" b="true" sz="3700" strike="noStrike" u="non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CFO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61535" y="2777789"/>
            <a:ext cx="9212856" cy="9135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59142" indent="-279571" lvl="1">
              <a:lnSpc>
                <a:spcPts val="3625"/>
              </a:lnSpc>
              <a:buFont typeface="Arial"/>
              <a:buChar char="•"/>
            </a:pPr>
            <a:r>
              <a:rPr lang="en-US" sz="2589">
                <a:solidFill>
                  <a:srgbClr val="343434"/>
                </a:solidFill>
                <a:latin typeface="Open Sans"/>
                <a:ea typeface="Open Sans"/>
                <a:cs typeface="Open Sans"/>
                <a:sym typeface="Open Sans"/>
              </a:rPr>
              <a:t>Planificación financiera y estratégica del negocio tecnológico. </a:t>
            </a:r>
            <a:r>
              <a:rPr lang="en-US" sz="2589">
                <a:solidFill>
                  <a:srgbClr val="343434"/>
                </a:solidFill>
                <a:latin typeface="Open Sans"/>
                <a:ea typeface="Open Sans"/>
                <a:cs typeface="Open Sans"/>
                <a:sym typeface="Open Sans"/>
              </a:rPr>
              <a:t>El CFO es responsable de definir y coordinar la estrategia financiera de la empresa. En el contexto de bases de datos para supermercados</a:t>
            </a:r>
          </a:p>
          <a:p>
            <a:pPr algn="just">
              <a:lnSpc>
                <a:spcPts val="3625"/>
              </a:lnSpc>
            </a:pPr>
          </a:p>
          <a:p>
            <a:pPr algn="just" marL="559142" indent="-279571" lvl="1">
              <a:lnSpc>
                <a:spcPts val="3625"/>
              </a:lnSpc>
              <a:buFont typeface="Arial"/>
              <a:buChar char="•"/>
            </a:pPr>
            <a:r>
              <a:rPr lang="en-US" sz="2589">
                <a:solidFill>
                  <a:srgbClr val="343434"/>
                </a:solidFill>
                <a:latin typeface="Open Sans"/>
                <a:ea typeface="Open Sans"/>
                <a:cs typeface="Open Sans"/>
                <a:sym typeface="Open Sans"/>
              </a:rPr>
              <a:t>Gestión del flujo de caja, costos y rentabilidad por cliente o proyecto. El CFO debe controlar que los ingresos y egresos estén equilibrados, optimizar el uso de recursos y analizar márgenes.</a:t>
            </a:r>
          </a:p>
          <a:p>
            <a:pPr algn="just">
              <a:lnSpc>
                <a:spcPts val="3625"/>
              </a:lnSpc>
            </a:pPr>
          </a:p>
          <a:p>
            <a:pPr algn="just" marL="559142" indent="-279571" lvl="1">
              <a:lnSpc>
                <a:spcPts val="3625"/>
              </a:lnSpc>
              <a:buFont typeface="Arial"/>
              <a:buChar char="•"/>
            </a:pPr>
            <a:r>
              <a:rPr lang="en-US" sz="2589">
                <a:solidFill>
                  <a:srgbClr val="343434"/>
                </a:solidFill>
                <a:latin typeface="Open Sans"/>
                <a:ea typeface="Open Sans"/>
                <a:cs typeface="Open Sans"/>
                <a:sym typeface="Open Sans"/>
              </a:rPr>
              <a:t>Supervisión de riesgos tecnológicos y cumplimiento financiero. El CFO debe asegurar que la empresa cumpla con normativas fiscales, contractuales y de protección de datos (especialmente críticas en bases de datos de consumidores).</a:t>
            </a:r>
          </a:p>
          <a:p>
            <a:pPr algn="just">
              <a:lnSpc>
                <a:spcPts val="3625"/>
              </a:lnSpc>
            </a:pPr>
          </a:p>
          <a:p>
            <a:pPr algn="just">
              <a:lnSpc>
                <a:spcPts val="3625"/>
              </a:lnSpc>
            </a:pPr>
          </a:p>
          <a:p>
            <a:pPr algn="just">
              <a:lnSpc>
                <a:spcPts val="3625"/>
              </a:lnSpc>
            </a:pPr>
          </a:p>
          <a:p>
            <a:pPr algn="just">
              <a:lnSpc>
                <a:spcPts val="3625"/>
              </a:lnSpc>
            </a:pPr>
          </a:p>
          <a:p>
            <a:pPr algn="just">
              <a:lnSpc>
                <a:spcPts val="3625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4961472" y="276225"/>
            <a:ext cx="7072639" cy="1209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FUNCIONES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319860" y="1111629"/>
            <a:ext cx="847412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HOME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424041" y="1111629"/>
            <a:ext cx="847412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SERVICE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528628" y="1111629"/>
            <a:ext cx="1105735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ABOUT US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923945" y="1111629"/>
            <a:ext cx="1335355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CONTACT US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253563" y="8991600"/>
            <a:ext cx="100573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Page 05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7425540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69"/>
                </a:lnTo>
                <a:lnTo>
                  <a:pt x="0" y="192580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01845" y="4189922"/>
            <a:ext cx="11732265" cy="4497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59141" indent="-279571" lvl="1">
              <a:lnSpc>
                <a:spcPts val="3625"/>
              </a:lnSpc>
              <a:spcBef>
                <a:spcPct val="0"/>
              </a:spcBef>
              <a:buFont typeface="Arial"/>
              <a:buChar char="•"/>
            </a:pPr>
            <a:r>
              <a:rPr lang="en-US" sz="2589" strike="noStrike" u="none">
                <a:solidFill>
                  <a:srgbClr val="343434"/>
                </a:solidFill>
                <a:latin typeface="Open Sans"/>
                <a:ea typeface="Open Sans"/>
                <a:cs typeface="Open Sans"/>
                <a:sym typeface="Open Sans"/>
              </a:rPr>
              <a:t>  Desarrollo de la plataforma (Software Development): Creación y mejora continua de la base de datos y la interfaz de usuario.</a:t>
            </a:r>
          </a:p>
          <a:p>
            <a:pPr algn="just">
              <a:lnSpc>
                <a:spcPts val="3625"/>
              </a:lnSpc>
              <a:spcBef>
                <a:spcPct val="0"/>
              </a:spcBef>
            </a:pPr>
          </a:p>
          <a:p>
            <a:pPr algn="just" marL="559141" indent="-279571" lvl="1">
              <a:lnSpc>
                <a:spcPts val="3625"/>
              </a:lnSpc>
              <a:spcBef>
                <a:spcPct val="0"/>
              </a:spcBef>
              <a:buFont typeface="Arial"/>
              <a:buChar char="•"/>
            </a:pPr>
            <a:r>
              <a:rPr lang="en-US" sz="2589" strike="noStrike" u="none">
                <a:solidFill>
                  <a:srgbClr val="343434"/>
                </a:solidFill>
                <a:latin typeface="Open Sans"/>
                <a:ea typeface="Open Sans"/>
                <a:cs typeface="Open Sans"/>
                <a:sym typeface="Open Sans"/>
              </a:rPr>
              <a:t>    Arquitectura de datos y análisis (Data Science): Diseño de modelos para organizar la información de forma eficiente y desarrollar algoritmos de análisis predictivo.</a:t>
            </a:r>
          </a:p>
          <a:p>
            <a:pPr algn="just">
              <a:lnSpc>
                <a:spcPts val="3625"/>
              </a:lnSpc>
              <a:spcBef>
                <a:spcPct val="0"/>
              </a:spcBef>
            </a:pPr>
          </a:p>
          <a:p>
            <a:pPr algn="just" marL="559141" indent="-279571" lvl="1">
              <a:lnSpc>
                <a:spcPts val="3625"/>
              </a:lnSpc>
              <a:spcBef>
                <a:spcPct val="0"/>
              </a:spcBef>
              <a:buFont typeface="Arial"/>
              <a:buChar char="•"/>
            </a:pPr>
            <a:r>
              <a:rPr lang="en-US" sz="2589" strike="noStrike" u="none">
                <a:solidFill>
                  <a:srgbClr val="343434"/>
                </a:solidFill>
                <a:latin typeface="Open Sans"/>
                <a:ea typeface="Open Sans"/>
                <a:cs typeface="Open Sans"/>
                <a:sym typeface="Open Sans"/>
              </a:rPr>
              <a:t>    Investigación y Desarrollo (I+D): Exploración de nuevas tecnologías, como inteligencia artificial y aprendizaje automático, para añadir funcionalidades innovadoras a la plataforma.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2743566" y="3690964"/>
            <a:ext cx="4222276" cy="4114800"/>
          </a:xfrm>
          <a:custGeom>
            <a:avLst/>
            <a:gdLst/>
            <a:ahLst/>
            <a:cxnLst/>
            <a:rect r="r" b="b" t="t" l="l"/>
            <a:pathLst>
              <a:path h="4114800" w="4222276">
                <a:moveTo>
                  <a:pt x="0" y="0"/>
                </a:moveTo>
                <a:lnTo>
                  <a:pt x="4222276" y="0"/>
                </a:lnTo>
                <a:lnTo>
                  <a:pt x="422227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03822" y="1984420"/>
            <a:ext cx="8115300" cy="2596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52"/>
              </a:lnSpc>
              <a:spcBef>
                <a:spcPct val="0"/>
              </a:spcBef>
            </a:pPr>
            <a:r>
              <a:rPr lang="en-US" b="true" sz="4680" strike="noStrike" u="non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DEPARTAMENTO DE TECNOLOGIA Y PRODUCTO</a:t>
            </a:r>
          </a:p>
          <a:p>
            <a:pPr algn="l" marL="0" indent="0" lvl="0">
              <a:lnSpc>
                <a:spcPts val="6552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4961472" y="580668"/>
            <a:ext cx="7072639" cy="1209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FUNCIONES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319860" y="1111629"/>
            <a:ext cx="847412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HOME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424041" y="1111629"/>
            <a:ext cx="847412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SERVICE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528628" y="1111629"/>
            <a:ext cx="1105735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ABOUT US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923945" y="1111629"/>
            <a:ext cx="1335355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CONTACT US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253563" y="8991600"/>
            <a:ext cx="100573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Page 05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7425540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69"/>
                </a:lnTo>
                <a:lnTo>
                  <a:pt x="0" y="192580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04013" y="4024863"/>
            <a:ext cx="10761673" cy="4497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59141" indent="-279571" lvl="1">
              <a:lnSpc>
                <a:spcPts val="3625"/>
              </a:lnSpc>
              <a:spcBef>
                <a:spcPct val="0"/>
              </a:spcBef>
              <a:buFont typeface="Arial"/>
              <a:buChar char="•"/>
            </a:pPr>
            <a:r>
              <a:rPr lang="en-US" sz="2589" strike="noStrike" u="none">
                <a:solidFill>
                  <a:srgbClr val="343434"/>
                </a:solidFill>
                <a:latin typeface="Open Sans"/>
                <a:ea typeface="Open Sans"/>
                <a:cs typeface="Open Sans"/>
                <a:sym typeface="Open Sans"/>
              </a:rPr>
              <a:t>    Generación de leads (Lead Generation): Búsqueda y contacto con supermercados potenciales a través de distintos canales.</a:t>
            </a:r>
          </a:p>
          <a:p>
            <a:pPr algn="just">
              <a:lnSpc>
                <a:spcPts val="3625"/>
              </a:lnSpc>
              <a:spcBef>
                <a:spcPct val="0"/>
              </a:spcBef>
            </a:pPr>
          </a:p>
          <a:p>
            <a:pPr algn="just" marL="559141" indent="-279571" lvl="1">
              <a:lnSpc>
                <a:spcPts val="3625"/>
              </a:lnSpc>
              <a:spcBef>
                <a:spcPct val="0"/>
              </a:spcBef>
              <a:buFont typeface="Arial"/>
              <a:buChar char="•"/>
            </a:pPr>
            <a:r>
              <a:rPr lang="en-US" sz="2589" strike="noStrike" u="none">
                <a:solidFill>
                  <a:srgbClr val="343434"/>
                </a:solidFill>
                <a:latin typeface="Open Sans"/>
                <a:ea typeface="Open Sans"/>
                <a:cs typeface="Open Sans"/>
                <a:sym typeface="Open Sans"/>
              </a:rPr>
              <a:t>    Cierre de ventas (Sales Closing): Presentación de propuestas, negociación de contratos y cierre de acuerdos comerciales.</a:t>
            </a:r>
          </a:p>
          <a:p>
            <a:pPr algn="just">
              <a:lnSpc>
                <a:spcPts val="3625"/>
              </a:lnSpc>
              <a:spcBef>
                <a:spcPct val="0"/>
              </a:spcBef>
            </a:pPr>
          </a:p>
          <a:p>
            <a:pPr algn="just" marL="559141" indent="-279571" lvl="1">
              <a:lnSpc>
                <a:spcPts val="3625"/>
              </a:lnSpc>
              <a:spcBef>
                <a:spcPct val="0"/>
              </a:spcBef>
              <a:buFont typeface="Arial"/>
              <a:buChar char="•"/>
            </a:pPr>
            <a:r>
              <a:rPr lang="en-US" sz="2589" strike="noStrike" u="none">
                <a:solidFill>
                  <a:srgbClr val="343434"/>
                </a:solidFill>
                <a:latin typeface="Open Sans"/>
                <a:ea typeface="Open Sans"/>
                <a:cs typeface="Open Sans"/>
                <a:sym typeface="Open Sans"/>
              </a:rPr>
              <a:t>    Estrategia de contenidos y marca (Content Strategy): Creación de materiales de marketing (estudios de caso, webinars, blog) para educar al mercado y posicionar a la empresa.</a:t>
            </a:r>
          </a:p>
          <a:p>
            <a:pPr algn="just">
              <a:lnSpc>
                <a:spcPts val="3625"/>
              </a:lnSpc>
              <a:spcBef>
                <a:spcPct val="0"/>
              </a:spcBef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1531725" y="4082013"/>
            <a:ext cx="5727575" cy="3644820"/>
          </a:xfrm>
          <a:custGeom>
            <a:avLst/>
            <a:gdLst/>
            <a:ahLst/>
            <a:cxnLst/>
            <a:rect r="r" b="b" t="t" l="l"/>
            <a:pathLst>
              <a:path h="3644820" w="5727575">
                <a:moveTo>
                  <a:pt x="0" y="0"/>
                </a:moveTo>
                <a:lnTo>
                  <a:pt x="5727575" y="0"/>
                </a:lnTo>
                <a:lnTo>
                  <a:pt x="5727575" y="3644821"/>
                </a:lnTo>
                <a:lnTo>
                  <a:pt x="0" y="36448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16330" y="2483106"/>
            <a:ext cx="15562923" cy="734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0"/>
              </a:lnSpc>
            </a:pPr>
            <a:r>
              <a:rPr lang="en-US" sz="3700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DEPARTAMENTO DE VENTAS Y MARKETING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961472" y="580668"/>
            <a:ext cx="7072639" cy="1209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FUNCIONES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319860" y="1111629"/>
            <a:ext cx="847412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HOME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424041" y="1111629"/>
            <a:ext cx="847412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SERVICE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528628" y="1111629"/>
            <a:ext cx="1105735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ABOUT US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923945" y="1111629"/>
            <a:ext cx="1335355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CONTACT US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253563" y="8991600"/>
            <a:ext cx="100573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Page 05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7425540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69"/>
                </a:lnTo>
                <a:lnTo>
                  <a:pt x="0" y="192580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204801" y="3286220"/>
            <a:ext cx="3753388" cy="4211375"/>
          </a:xfrm>
          <a:custGeom>
            <a:avLst/>
            <a:gdLst/>
            <a:ahLst/>
            <a:cxnLst/>
            <a:rect r="r" b="b" t="t" l="l"/>
            <a:pathLst>
              <a:path h="4211375" w="3753388">
                <a:moveTo>
                  <a:pt x="0" y="0"/>
                </a:moveTo>
                <a:lnTo>
                  <a:pt x="3753388" y="0"/>
                </a:lnTo>
                <a:lnTo>
                  <a:pt x="3753388" y="4211375"/>
                </a:lnTo>
                <a:lnTo>
                  <a:pt x="0" y="42113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52929" y="4065154"/>
            <a:ext cx="10462643" cy="4964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59141" indent="-279570" lvl="1">
              <a:lnSpc>
                <a:spcPts val="3625"/>
              </a:lnSpc>
              <a:spcBef>
                <a:spcPct val="0"/>
              </a:spcBef>
              <a:buFont typeface="Arial"/>
              <a:buChar char="•"/>
            </a:pPr>
            <a:r>
              <a:rPr lang="en-US" sz="2589" strike="noStrike" u="none">
                <a:solidFill>
                  <a:srgbClr val="343434"/>
                </a:solidFill>
                <a:latin typeface="Open Sans"/>
                <a:ea typeface="Open Sans"/>
                <a:cs typeface="Open Sans"/>
                <a:sym typeface="Open Sans"/>
              </a:rPr>
              <a:t>   Implementación de la solución (Onboarding): Coordinación del proceso de instalación de la plataforma en las operaciones del cliente y capacitación del personal.</a:t>
            </a:r>
          </a:p>
          <a:p>
            <a:pPr algn="just">
              <a:lnSpc>
                <a:spcPts val="3625"/>
              </a:lnSpc>
              <a:spcBef>
                <a:spcPct val="0"/>
              </a:spcBef>
            </a:pPr>
          </a:p>
          <a:p>
            <a:pPr algn="just" marL="559141" indent="-279570" lvl="1">
              <a:lnSpc>
                <a:spcPts val="3625"/>
              </a:lnSpc>
              <a:spcBef>
                <a:spcPct val="0"/>
              </a:spcBef>
              <a:buFont typeface="Arial"/>
              <a:buChar char="•"/>
            </a:pPr>
            <a:r>
              <a:rPr lang="en-US" sz="2589" strike="noStrike" u="none">
                <a:solidFill>
                  <a:srgbClr val="343434"/>
                </a:solidFill>
                <a:latin typeface="Open Sans"/>
                <a:ea typeface="Open Sans"/>
                <a:cs typeface="Open Sans"/>
                <a:sym typeface="Open Sans"/>
              </a:rPr>
              <a:t>    Soporte técnico (Technical Support): Atención a consultas y resolución de problemas técnicos para asegurar el correcto funcionamiento del sistema.</a:t>
            </a:r>
          </a:p>
          <a:p>
            <a:pPr algn="just">
              <a:lnSpc>
                <a:spcPts val="3625"/>
              </a:lnSpc>
              <a:spcBef>
                <a:spcPct val="0"/>
              </a:spcBef>
            </a:pPr>
          </a:p>
          <a:p>
            <a:pPr algn="just" marL="559141" indent="-279570" lvl="1">
              <a:lnSpc>
                <a:spcPts val="3625"/>
              </a:lnSpc>
              <a:spcBef>
                <a:spcPct val="0"/>
              </a:spcBef>
              <a:buFont typeface="Arial"/>
              <a:buChar char="•"/>
            </a:pPr>
            <a:r>
              <a:rPr lang="en-US" sz="2589" strike="noStrike" u="none">
                <a:solidFill>
                  <a:srgbClr val="343434"/>
                </a:solidFill>
                <a:latin typeface="Open Sans"/>
                <a:ea typeface="Open Sans"/>
                <a:cs typeface="Open Sans"/>
                <a:sym typeface="Open Sans"/>
              </a:rPr>
              <a:t>    Gestión de la relación con el cliente (Customer Success): Seguimiento proactivo para asegurar que el cliente obtenga el máximo valor de la herramienta y renovar el servicio.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65927" y="2174639"/>
            <a:ext cx="7798185" cy="1391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0"/>
              </a:lnSpc>
            </a:pPr>
            <a:r>
              <a:rPr lang="en-US" sz="3700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DEPARTAMENTO DE OPERACIONES </a:t>
            </a:r>
          </a:p>
          <a:p>
            <a:pPr algn="l">
              <a:lnSpc>
                <a:spcPts val="5180"/>
              </a:lnSpc>
            </a:pPr>
            <a:r>
              <a:rPr lang="en-US" sz="3700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Y SOPORTE A CLIENTE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927793" y="580668"/>
            <a:ext cx="7072639" cy="1209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FUNCIONES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319860" y="1111629"/>
            <a:ext cx="847412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HOME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424041" y="1111629"/>
            <a:ext cx="847412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SERVICE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528628" y="1111629"/>
            <a:ext cx="1105735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ABOUT US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923945" y="1111629"/>
            <a:ext cx="1335355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CONTACT US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253563" y="8991600"/>
            <a:ext cx="100573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Page 05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7425540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69"/>
                </a:lnTo>
                <a:lnTo>
                  <a:pt x="0" y="192580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90640" y="3890687"/>
            <a:ext cx="10462643" cy="4512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25"/>
              </a:lnSpc>
              <a:spcBef>
                <a:spcPct val="0"/>
              </a:spcBef>
            </a:pPr>
          </a:p>
          <a:p>
            <a:pPr algn="just" marL="559141" indent="-279570" lvl="1">
              <a:lnSpc>
                <a:spcPts val="3625"/>
              </a:lnSpc>
              <a:spcBef>
                <a:spcPct val="0"/>
              </a:spcBef>
              <a:buFont typeface="Arial"/>
              <a:buChar char="•"/>
            </a:pPr>
            <a:r>
              <a:rPr lang="en-US" sz="2589" strike="noStrike" u="none">
                <a:solidFill>
                  <a:srgbClr val="343434"/>
                </a:solidFill>
                <a:latin typeface="Open Sans"/>
                <a:ea typeface="Open Sans"/>
                <a:cs typeface="Open Sans"/>
                <a:sym typeface="Open Sans"/>
              </a:rPr>
              <a:t>  Gestión financiera (Financial Management): Control del presupuesto, facturación, contabilidad y análisis de la rentabilidad.</a:t>
            </a:r>
          </a:p>
          <a:p>
            <a:pPr algn="just">
              <a:lnSpc>
                <a:spcPts val="3625"/>
              </a:lnSpc>
              <a:spcBef>
                <a:spcPct val="0"/>
              </a:spcBef>
            </a:pPr>
          </a:p>
          <a:p>
            <a:pPr algn="just" marL="559141" indent="-279570" lvl="1">
              <a:lnSpc>
                <a:spcPts val="3625"/>
              </a:lnSpc>
              <a:spcBef>
                <a:spcPct val="0"/>
              </a:spcBef>
              <a:buFont typeface="Arial"/>
              <a:buChar char="•"/>
            </a:pPr>
            <a:r>
              <a:rPr lang="en-US" sz="2589" strike="noStrike" u="none">
                <a:solidFill>
                  <a:srgbClr val="343434"/>
                </a:solidFill>
                <a:latin typeface="Open Sans"/>
                <a:ea typeface="Open Sans"/>
                <a:cs typeface="Open Sans"/>
                <a:sym typeface="Open Sans"/>
              </a:rPr>
              <a:t>    Gestión de talento (Talent Management): Contratación de personal, gestión de nóminas y desarrollo del equipo.</a:t>
            </a:r>
          </a:p>
          <a:p>
            <a:pPr algn="just">
              <a:lnSpc>
                <a:spcPts val="3625"/>
              </a:lnSpc>
              <a:spcBef>
                <a:spcPct val="0"/>
              </a:spcBef>
            </a:pPr>
          </a:p>
          <a:p>
            <a:pPr algn="just" marL="559141" indent="-279570" lvl="1">
              <a:lnSpc>
                <a:spcPts val="3625"/>
              </a:lnSpc>
              <a:spcBef>
                <a:spcPct val="0"/>
              </a:spcBef>
              <a:buFont typeface="Arial"/>
              <a:buChar char="•"/>
            </a:pPr>
            <a:r>
              <a:rPr lang="en-US" sz="2589" strike="noStrike" u="none">
                <a:solidFill>
                  <a:srgbClr val="343434"/>
                </a:solidFill>
                <a:latin typeface="Open Sans"/>
                <a:ea typeface="Open Sans"/>
                <a:cs typeface="Open Sans"/>
                <a:sym typeface="Open Sans"/>
              </a:rPr>
              <a:t>    Administración general: Supervisión de los procesos internos de la empresa, cumplimiento legal y gestión de proveedores..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1888928" y="3719880"/>
            <a:ext cx="5279400" cy="3925954"/>
          </a:xfrm>
          <a:custGeom>
            <a:avLst/>
            <a:gdLst/>
            <a:ahLst/>
            <a:cxnLst/>
            <a:rect r="r" b="b" t="t" l="l"/>
            <a:pathLst>
              <a:path h="3925954" w="5279400">
                <a:moveTo>
                  <a:pt x="0" y="0"/>
                </a:moveTo>
                <a:lnTo>
                  <a:pt x="5279399" y="0"/>
                </a:lnTo>
                <a:lnTo>
                  <a:pt x="5279399" y="3925953"/>
                </a:lnTo>
                <a:lnTo>
                  <a:pt x="0" y="39259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90640" y="2678684"/>
            <a:ext cx="15562923" cy="734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0"/>
              </a:lnSpc>
            </a:pPr>
            <a:r>
              <a:rPr lang="en-US" sz="3700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DEPARTAMENTO DE ADMINISTRACIÓN Y FINANZAS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935782" y="474674"/>
            <a:ext cx="7072639" cy="1209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FUNCIONES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319860" y="1111629"/>
            <a:ext cx="847412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HOME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424041" y="1111629"/>
            <a:ext cx="847412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SERVICE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528628" y="1111629"/>
            <a:ext cx="1105735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ABOUT US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923945" y="1111629"/>
            <a:ext cx="1335355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CONTACT US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253563" y="8991600"/>
            <a:ext cx="100573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Page 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DAGxMiws0-M</dc:identifier>
  <dcterms:modified xsi:type="dcterms:W3CDTF">2011-08-01T06:04:30Z</dcterms:modified>
  <cp:revision>1</cp:revision>
  <dc:title>Equipo:Joaquin Davila Arenas,Javier Francisco Bernal Calvo y Victoria Vargas Encinas</dc:title>
</cp:coreProperties>
</file>